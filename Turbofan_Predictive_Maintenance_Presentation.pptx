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ACADEMIC CAPSTONE PROJECT • IOT &amp; SENSOR DATA PREDICTION</a:t>
            </a:r>
          </a:p>
          <a:p>
            <a:pPr>
              <a:spcBef>
                <a:spcPts val="1400"/>
              </a:spcBef>
              <a:spcAft>
                <a:spcPts val="1200"/>
              </a:spcAft>
              <a:defRPr sz="3600" b="1">
                <a:solidFill>
                  <a:srgbClr val="F1F5F9"/>
                </a:solidFill>
                <a:latin typeface="Segoe UI"/>
              </a:defRPr>
            </a:pPr>
            <a:r>
              <a:t>AI-Based Predictive Maintenance &amp;</a:t>
            </a:r>
            <a:br/>
            <a:r>
              <a:t>Remaining Useful Life (RUL) Prediction</a:t>
            </a:r>
          </a:p>
          <a:p>
            <a:pPr>
              <a:spcAft>
                <a:spcPts val="3000"/>
              </a:spcAft>
              <a:defRPr sz="1700">
                <a:solidFill>
                  <a:srgbClr val="94A3B8"/>
                </a:solidFill>
                <a:latin typeface="Segoe UI"/>
              </a:defRPr>
            </a:pPr>
            <a:r>
              <a:t>End-to-End Machine Learning &amp; Deep Sequential Modeling for Turbofan Engine Prognostics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46320"/>
            <a:ext cx="10360152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9834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1F5F9"/>
                </a:solidFill>
                <a:latin typeface="Segoe UI"/>
              </a:defRPr>
            </a:pPr>
            <a:r>
              <a:t>Project Mandate: Pick up sensor telemetry from a device and perform real-time classification/prediction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Device: Turbofan Aircraft Jet Engine (NASA C-MAPSS FD001)  •  Stack: Python, PyTorch (LSTM), Scikit-Learn, Streamlit,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CONTEXT &amp; MOTIVATION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Core Problem: Preventing Costly Machine Failures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Why Predictive Maintenance (PdM) represents a paradigm shift over traditional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The Flaws of Conventional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E11D48"/>
                </a:solidFill>
                <a:latin typeface="Segoe UI"/>
              </a:rPr>
              <a:t>Reactive Maintenance (Run-to-Failure): </a:t>
            </a:r>
            <a:r>
              <a:rPr sz="1200">
                <a:solidFill>
                  <a:srgbClr val="64748B"/>
                </a:solidFill>
                <a:latin typeface="Segoe UI"/>
              </a:rPr>
              <a:t>Equipment runs until it breaks. In mission-critical aerospace systems, sudden in-flight failure causes catastrophic safety risks and massive financial losses.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  <a:latin typeface="Segoe UI"/>
              </a:rPr>
              <a:t>Preventive Maintenance (Time-Based): </a:t>
            </a:r>
            <a:r>
              <a:rPr sz="1200">
                <a:solidFill>
                  <a:srgbClr val="64748B"/>
                </a:solidFill>
                <a:latin typeface="Segoe UI"/>
              </a:rPr>
              <a:t>Parts are serviced/replaced at fixed calendar or usage intervals. This causes premature replacement of healthy parts, driving up operational overhead by 30-40%.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  <a:latin typeface="Segoe UI"/>
              </a:rPr>
              <a:t>Lack of Real-Time Visibility: </a:t>
            </a:r>
            <a:r>
              <a:rPr sz="1200">
                <a:solidFill>
                  <a:srgbClr val="64748B"/>
                </a:solidFill>
                <a:latin typeface="Segoe UI"/>
              </a:rPr>
              <a:t>Static maintenance manuals do not account for individual operating stresses, weather conditions, or actual degradation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The Solution: Predictive Maintenance (PdM)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369A1"/>
                </a:solidFill>
                <a:latin typeface="Segoe UI"/>
              </a:rPr>
              <a:t>Condition-Based Monitoring: </a:t>
            </a:r>
            <a:r>
              <a:rPr sz="1200">
                <a:solidFill>
                  <a:srgbClr val="64748B"/>
                </a:solidFill>
                <a:latin typeface="Segoe UI"/>
              </a:rPr>
              <a:t>Continuously ingests multi-channel sensor telemetry from operating machinery to track internal physical wear in real time.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369A1"/>
                </a:solidFill>
                <a:latin typeface="Segoe UI"/>
              </a:rPr>
              <a:t>Remaining Useful Life (RUL) Prediction: </a:t>
            </a:r>
            <a:r>
              <a:rPr sz="1200">
                <a:solidFill>
                  <a:srgbClr val="64748B"/>
                </a:solidFill>
                <a:latin typeface="Segoe UI"/>
              </a:rPr>
              <a:t>RUL defines the exact number of operational cycles/hours remaining before component failure occurs ($RUL = Cycle_{failure} - Cycle_{current}$).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369A1"/>
                </a:solidFill>
                <a:latin typeface="Segoe UI"/>
              </a:rPr>
              <a:t>Just-in-Time Maintenance Action: </a:t>
            </a:r>
            <a:r>
              <a:rPr sz="1200">
                <a:solidFill>
                  <a:srgbClr val="64748B"/>
                </a:solidFill>
                <a:latin typeface="Segoe UI"/>
              </a:rPr>
              <a:t>Enables operators to service engines precisely when wear approaches safety margins—preventing breakdowns while maximizing component life.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369A1"/>
                </a:solidFill>
                <a:latin typeface="Segoe UI"/>
              </a:rPr>
              <a:t>Course Goal Fulfillment: </a:t>
            </a:r>
            <a:r>
              <a:rPr sz="1200">
                <a:solidFill>
                  <a:srgbClr val="64748B"/>
                </a:solidFill>
                <a:latin typeface="Segoe UI"/>
              </a:rPr>
              <a:t>Directly satisfies the objective of extracting telemetry from a real-world device and building an accurate prognostic ML/DL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DEVICE TELEMETRY ACQUISITION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Device Under Study: Turbofan Engine &amp; NASA C-MAPSS Dataset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Physics-based multi-sensor simulation from healthy operation to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Segoe UI"/>
              </a:defRPr>
            </a:pPr>
            <a:r>
              <a:t>21 Sensor Channels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Temperatures, Pressures, Speeds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100 Training Units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Full run-to-failure lifecycles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369A1"/>
                </a:solidFill>
                <a:latin typeface="Segoe UI"/>
              </a:defRPr>
            </a:pPr>
            <a:r>
              <a:t>100 Test Units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Partial trajectories for RUL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12064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Turbofan Device Subsystems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Fan &amp; Low-Pressure Compressor (LPC): </a:t>
            </a:r>
            <a:r>
              <a:rPr sz="1100">
                <a:solidFill>
                  <a:srgbClr val="64748B"/>
                </a:solidFill>
                <a:latin typeface="Segoe UI"/>
              </a:rPr>
              <a:t>Intake air compression, tracked via inlet temperature ($T_2$) and fan speed ($N_f$).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High-Pressure Compressor (HPC): </a:t>
            </a:r>
            <a:r>
              <a:rPr sz="1100">
                <a:solidFill>
                  <a:srgbClr val="64748B"/>
                </a:solidFill>
                <a:latin typeface="Segoe UI"/>
              </a:rPr>
              <a:t>High compression stage; degradation causes exit temperature ($T_{30}$) and static pressure ($P_{30}$) to surge.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Combustion Chamber &amp; High-Pressure Turbine (HPT): </a:t>
            </a:r>
            <a:r>
              <a:rPr sz="1100">
                <a:solidFill>
                  <a:srgbClr val="64748B"/>
                </a:solidFill>
                <a:latin typeface="Segoe UI"/>
              </a:rPr>
              <a:t>High thermal stresses; tracked via HPT coolant bleed and turbine exit temperature ($T_{50}$).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Low-Pressure Turbine (LPT) &amp; Exhaust Nozzle: </a:t>
            </a:r>
            <a:r>
              <a:rPr sz="1100">
                <a:solidFill>
                  <a:srgbClr val="64748B"/>
                </a:solidFill>
                <a:latin typeface="Segoe UI"/>
              </a:rPr>
              <a:t>Expands gas to produce thrust; tracked via bypass ratio and bypass pressure ($P_{15}$).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Dataset Characteristics (NASA FD001)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918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0369A1"/>
                </a:solidFill>
                <a:latin typeface="Segoe UI"/>
              </a:rPr>
              <a:t>NASA C-MAPSS Benchmark: </a:t>
            </a:r>
            <a:r>
              <a:rPr sz="1100">
                <a:solidFill>
                  <a:srgbClr val="64748B"/>
                </a:solidFill>
                <a:latin typeface="Segoe UI"/>
              </a:rPr>
              <a:t>Gold standard benchmark from NASA Ames Research Center for Prognostics and Health Management (PHM).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369A1"/>
                </a:solidFill>
                <a:latin typeface="Segoe UI"/>
              </a:rPr>
              <a:t>Simulated Run-to-Failure: </a:t>
            </a:r>
            <a:r>
              <a:rPr sz="1100">
                <a:solidFill>
                  <a:srgbClr val="64748B"/>
                </a:solidFill>
                <a:latin typeface="Segoe UI"/>
              </a:rPr>
              <a:t>Each engine unit begins in varying states of initial manufacturing wear and runs until operational threshold violation.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369A1"/>
                </a:solidFill>
                <a:latin typeface="Segoe UI"/>
              </a:rPr>
              <a:t>Single Operating Condition: </a:t>
            </a:r>
            <a:r>
              <a:rPr sz="1100">
                <a:solidFill>
                  <a:srgbClr val="64748B"/>
                </a:solidFill>
                <a:latin typeface="Segoe UI"/>
              </a:rPr>
              <a:t>Operates at Sea Level with fixed throttle resolver angle, isolating degradation dynamics from environmental flight shifts.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369A1"/>
                </a:solidFill>
                <a:latin typeface="Segoe UI"/>
              </a:rPr>
              <a:t>Telemetry Frequency: </a:t>
            </a:r>
            <a:r>
              <a:rPr sz="1100">
                <a:solidFill>
                  <a:srgbClr val="64748B"/>
                </a:solidFill>
                <a:latin typeface="Segoe UI"/>
              </a:rPr>
              <a:t>Recorded on a discrete per-flight-cycle basis, forming a multivariate time-series trajectory.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DATA PREPROCESSING &amp; FEATURE PIPELINE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Engineering Physics-Informed Features &amp; Preventing Leakage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Raw sensor signals require stabilization, trend modeling, and strict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1. Uninformative Sensor Pruning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Constant Channel Removal: </a:t>
            </a:r>
            <a:r>
              <a:rPr sz="1050">
                <a:solidFill>
                  <a:srgbClr val="64748B"/>
                </a:solidFill>
                <a:latin typeface="Segoe UI"/>
              </a:rPr>
              <a:t>Sensors 1, 5, 6, 10, 16, 18, and 19 exhibit near-zero variance across all cycles under FD001 condition.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Dimensionality Reduction: </a:t>
            </a:r>
            <a:r>
              <a:rPr sz="1050">
                <a:solidFill>
                  <a:srgbClr val="64748B"/>
                </a:solidFill>
                <a:latin typeface="Segoe UI"/>
              </a:rPr>
              <a:t>Dropped dead channels, preserving only the 14 responsive thermodynamic channels to eliminate dead weights and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2. Piecewise Linear RUL Target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The Healthy Plateau Assumption: </a:t>
            </a:r>
            <a:r>
              <a:rPr sz="1050">
                <a:solidFill>
                  <a:srgbClr val="64748B"/>
                </a:solidFill>
                <a:latin typeface="Segoe UI"/>
              </a:rPr>
              <a:t>Engines do not degrade from cycle 1; wear only manifests after an initial burn-in period.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Target Clipping (RUL Cap = 125): </a:t>
            </a:r>
            <a:r>
              <a:rPr sz="1050">
                <a:solidFill>
                  <a:srgbClr val="64748B"/>
                </a:solidFill>
                <a:latin typeface="Segoe UI"/>
              </a:rPr>
              <a:t>Capped RUL at 125 cycles during early life, transitioning into linear degradation. Avoids forcing models to predict unrealistic 300+ cycle RULs early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3. Temporal Rolling Window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Smoothing Raw Sensor Noise: </a:t>
            </a:r>
            <a:r>
              <a:rPr sz="1050">
                <a:solidFill>
                  <a:srgbClr val="64748B"/>
                </a:solidFill>
                <a:latin typeface="Segoe UI"/>
              </a:rPr>
              <a:t>Sensor telemetry has high-frequency noise. We calculate a 5-cycle Rolling Mean to capture steady trend.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Degradation Momentum (Rolling Std): </a:t>
            </a:r>
            <a:r>
              <a:rPr sz="1050">
                <a:solidFill>
                  <a:srgbClr val="64748B"/>
                </a:solidFill>
                <a:latin typeface="Segoe UI"/>
              </a:rPr>
              <a:t>As components wear out, sensor fluctuations increase. Rolling Standard Deviation acts as an early indicator of mechanical instability.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4. Strict Data Leakage Prevention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177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Train-Only Scaler Fitting: </a:t>
            </a:r>
            <a:r>
              <a:rPr sz="1050">
                <a:solidFill>
                  <a:srgbClr val="64748B"/>
                </a:solidFill>
                <a:latin typeface="Segoe UI"/>
              </a:rPr>
              <a:t>StandardScaler parameters (mean, standard deviation) are strictly calculated on the training engines.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Zero Information Contamination: </a:t>
            </a:r>
            <a:r>
              <a:rPr sz="1050">
                <a:solidFill>
                  <a:srgbClr val="64748B"/>
                </a:solidFill>
                <a:latin typeface="Segoe UI"/>
              </a:rPr>
              <a:t>Test engine sets are only transformed using frozen train statistics. Preserves pure zero-leakage academic validity.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MODELING METHODOLOGY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Progressive Model Progression: Baseline to Deep Learning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Evaluating both tabular ensembles and temporal recurrent architectures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560320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1F5F9"/>
                </a:solidFill>
                <a:latin typeface="Segoe UI"/>
              </a:defRPr>
            </a:pPr>
            <a:r>
              <a:t>Linear Regression</a:t>
            </a:r>
          </a:p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Baseline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Nature: </a:t>
            </a:r>
            <a:r>
              <a:rPr sz="1050">
                <a:solidFill>
                  <a:srgbClr val="64748B"/>
                </a:solidFill>
                <a:latin typeface="Segoe UI"/>
              </a:rPr>
              <a:t>Ordinary Least Squares (OLS) regression.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Assumption: </a:t>
            </a:r>
            <a:r>
              <a:rPr sz="1050">
                <a:solidFill>
                  <a:srgbClr val="64748B"/>
                </a:solidFill>
                <a:latin typeface="Segoe UI"/>
              </a:rPr>
              <a:t>Assumes strictly linear correlation between sensor states and RUL.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Role: </a:t>
            </a:r>
            <a:r>
              <a:rPr sz="1050">
                <a:solidFill>
                  <a:srgbClr val="64748B"/>
                </a:solidFill>
                <a:latin typeface="Segoe UI"/>
              </a:rPr>
              <a:t>Provides an empirical baseline to justify higher-order model complexity.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554480"/>
            <a:ext cx="2560320" cy="8229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1F5F9"/>
                </a:solidFill>
                <a:latin typeface="Segoe UI"/>
              </a:defRPr>
            </a:pPr>
            <a:r>
              <a:t>Random Forest</a:t>
            </a:r>
          </a:p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Ensemble Bagging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Nature: </a:t>
            </a:r>
            <a:r>
              <a:rPr sz="1050">
                <a:solidFill>
                  <a:srgbClr val="64748B"/>
                </a:solidFill>
                <a:latin typeface="Segoe UI"/>
              </a:rPr>
              <a:t>Forest of 100 decision trees with feature subsampling.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Advantage: </a:t>
            </a:r>
            <a:r>
              <a:rPr sz="1050">
                <a:solidFill>
                  <a:srgbClr val="64748B"/>
                </a:solidFill>
                <a:latin typeface="Segoe UI"/>
              </a:rPr>
              <a:t>Captures non-linear sensor thresholds without scaling artifacts.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Limitation: </a:t>
            </a:r>
            <a:r>
              <a:rPr sz="1050">
                <a:solidFill>
                  <a:srgbClr val="64748B"/>
                </a:solidFill>
                <a:latin typeface="Segoe UI"/>
              </a:rPr>
              <a:t>Treats cycles independently without remembering prior trajectory.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459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1F5F9"/>
                </a:solidFill>
                <a:latin typeface="Segoe UI"/>
              </a:defRPr>
            </a:pPr>
            <a:r>
              <a:t>Gradient Boosting</a:t>
            </a:r>
          </a:p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XGBoost Regressor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603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Nature: </a:t>
            </a:r>
            <a:r>
              <a:rPr sz="1050">
                <a:solidFill>
                  <a:srgbClr val="64748B"/>
                </a:solidFill>
                <a:latin typeface="Segoe UI"/>
              </a:rPr>
              <a:t>Sequential boosting trees minimizing residual loss.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Advantage: </a:t>
            </a:r>
            <a:r>
              <a:rPr sz="1050">
                <a:solidFill>
                  <a:srgbClr val="64748B"/>
                </a:solidFill>
                <a:latin typeface="Segoe UI"/>
              </a:rPr>
              <a:t>High predictive accuracy on tabular data; tuned max_depth=3 to prevent overfitting.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Limitation: </a:t>
            </a:r>
            <a:r>
              <a:rPr sz="1050">
                <a:solidFill>
                  <a:srgbClr val="64748B"/>
                </a:solidFill>
                <a:latin typeface="Segoe UI"/>
              </a:rPr>
              <a:t>Still relies on engineered rolling stats to see past cycles.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55448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554480"/>
            <a:ext cx="256032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1F5F9"/>
                </a:solidFill>
                <a:latin typeface="Segoe UI"/>
              </a:defRPr>
            </a:pPr>
            <a:r>
              <a:t>PyTorch LSTM</a:t>
            </a:r>
          </a:p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Deep Recurrent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603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Nature: </a:t>
            </a:r>
            <a:r>
              <a:rPr sz="1050">
                <a:solidFill>
                  <a:srgbClr val="64748B"/>
                </a:solidFill>
                <a:latin typeface="Segoe UI"/>
              </a:rPr>
              <a:t>2-layer LSTM (hidden_dim=64) with Dropout (0.2).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Advantage: </a:t>
            </a:r>
            <a:r>
              <a:rPr sz="1050">
                <a:solidFill>
                  <a:srgbClr val="64748B"/>
                </a:solidFill>
                <a:latin typeface="Segoe UI"/>
              </a:rPr>
              <a:t>Maintains hidden cell memory across a 30-cycle sliding sequence window.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Segoe UI"/>
              </a:rPr>
              <a:t>Key Edge: </a:t>
            </a:r>
            <a:r>
              <a:rPr sz="1050">
                <a:solidFill>
                  <a:srgbClr val="64748B"/>
                </a:solidFill>
                <a:latin typeface="Segoe UI"/>
              </a:rPr>
              <a:t>Directly models progressive mechanical wear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EXPERIMENTAL RESULTS &amp; BENCHMARK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Model Performance Comparison on NASA Test Fleet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The Deep Sequential LSTM demonstrates superior predictive accuracy across all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Empirical Evaluation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9456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MAE ↓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RMSE ↓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R² Score ↑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26.78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33.36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0.3556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23.47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33.80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0.3385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Gradient Boosting (XGBoost)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24.65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33.06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0.3670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PyTorch LSTM (Deep Learning)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21.63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31.19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0.4365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369A1"/>
                </a:solidFill>
              </a:defRPr>
            </a:pPr>
            <a:r>
              <a:t>Key Takeaways &amp; Academic Findings: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19.2% MAE Reduction: LSTM achieves 21.63 error cycles vs 26.78 for Linear Baseline.</a:t>
            </a:r>
            <a:br/>
            <a:r>
              <a:t>• Penalizing Critical Outliers: LSTM achieved the lowest RMSE (31.19), proving it makes far fewer dangerous catastrophic prediction errors.</a:t>
            </a:r>
            <a:br/>
            <a:r>
              <a:t>• Variance Explained: R² surged to 0.4365, confirming the critical value of sequential window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49377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737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Model Benchmark Visualization</a:t>
            </a:r>
          </a:p>
        </p:txBody>
      </p:sp>
      <p:pic>
        <p:nvPicPr>
          <p:cNvPr id="10" name="Picture 9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468880"/>
            <a:ext cx="4663440" cy="1276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EXPLORATORY DATA ANALYSIS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Physicochemical Degradation Signatures in Engine Telemetry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Visual evidence of wear accumulation across operational lifecycles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Unit #1 Sensor Degradation Trajectory</a:t>
            </a:r>
          </a:p>
        </p:txBody>
      </p:sp>
      <p:pic>
        <p:nvPicPr>
          <p:cNvPr id="6" name="Picture 5" descr="engine_1_sensor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5029200" cy="35922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37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Sensor Correlation &amp; Failure Signatures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Monotonic Thermal Surge ($T_{30}, T_{50}$): </a:t>
            </a:r>
            <a:r>
              <a:rPr sz="1100">
                <a:solidFill>
                  <a:srgbClr val="64748B"/>
                </a:solidFill>
                <a:latin typeface="Segoe UI"/>
              </a:rPr>
              <a:t>High-Pressure Compressor outlet temperature and Low-Pressure Turbine exit temperature increase steadily as blade tip clearances widen and friction accumulates.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Spool Speed Decline ($N_f, N_c$): </a:t>
            </a:r>
            <a:r>
              <a:rPr sz="1100">
                <a:solidFill>
                  <a:srgbClr val="64748B"/>
                </a:solidFill>
                <a:latin typeface="Segoe UI"/>
              </a:rPr>
              <a:t>Physical core and fan rotational speeds degrade due to aerodynamic losses in the turbine stages, requiring higher fuel flow to maintain thrust.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Bypass &amp; Pressure Shifts ($P_{30}, P_{15}$): </a:t>
            </a:r>
            <a:r>
              <a:rPr sz="1100">
                <a:solidFill>
                  <a:srgbClr val="64748B"/>
                </a:solidFill>
                <a:latin typeface="Segoe UI"/>
              </a:rPr>
              <a:t>Total pressure at HPC outlet drops progressively as compressor efficiency diminishes.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Early Detection Feasibility: </a:t>
            </a:r>
            <a:r>
              <a:rPr sz="1100">
                <a:solidFill>
                  <a:srgbClr val="64748B"/>
                </a:solidFill>
                <a:latin typeface="Segoe UI"/>
              </a:rPr>
              <a:t>Observable divergence from healthy baseline begins approximately 50-70 cycles before catastrophic failure—providing ample reaction time for maintenance crews.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DEPLOYMENT &amp; LIVE DEMONSTRATION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Production Dashboard &amp; Digital Twin Simulator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Fully containerized full-stack deployment enabling interactive RUL exploration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Interactive Fleet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Unit ID Selector: </a:t>
            </a:r>
            <a:r>
              <a:rPr sz="1100">
                <a:solidFill>
                  <a:srgbClr val="64748B"/>
                </a:solidFill>
                <a:latin typeface="Segoe UI"/>
              </a:rPr>
              <a:t>Switch between 100 test engines in real time.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Operating Cycle Slider: </a:t>
            </a:r>
            <a:r>
              <a:rPr sz="1100">
                <a:solidFill>
                  <a:srgbClr val="64748B"/>
                </a:solidFill>
                <a:latin typeface="Segoe UI"/>
              </a:rPr>
              <a:t>Simulate engine running cycle-by-cycle to observe RUL countdown.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Dynamic Health Status: </a:t>
            </a:r>
            <a:r>
              <a:rPr sz="1100">
                <a:solidFill>
                  <a:srgbClr val="64748B"/>
                </a:solidFill>
                <a:latin typeface="Segoe UI"/>
              </a:rPr>
              <a:t>Automatic triage into Healthy, Warning, or Critical Maintenance Required with color cues.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Interactive Plotly Visualizer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Degradation Trajectory: </a:t>
            </a:r>
            <a:r>
              <a:rPr sz="1100">
                <a:solidFill>
                  <a:srgbClr val="64748B"/>
                </a:solidFill>
                <a:latin typeface="Segoe UI"/>
              </a:rPr>
              <a:t>Displays ground truth wear vs. model predicted trajectory.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Predicted Failure Cycle: </a:t>
            </a:r>
            <a:r>
              <a:rPr sz="1100">
                <a:solidFill>
                  <a:srgbClr val="64748B"/>
                </a:solidFill>
                <a:latin typeface="Segoe UI"/>
              </a:rPr>
              <a:t>Extrapolates remaining lifetime diamond marker with instant recalculation.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Model Dropdown: </a:t>
            </a:r>
            <a:r>
              <a:rPr sz="1100">
                <a:solidFill>
                  <a:srgbClr val="64748B"/>
                </a:solidFill>
                <a:latin typeface="Segoe UI"/>
              </a:rPr>
              <a:t>Switch seamlessly between LSTM, XGBoost, Random Forest, and Linear Regression.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5448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737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Custom Telemetry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Live File Uploader: </a:t>
            </a:r>
            <a:r>
              <a:rPr sz="1100">
                <a:solidFill>
                  <a:srgbClr val="64748B"/>
                </a:solidFill>
                <a:latin typeface="Segoe UI"/>
              </a:rPr>
              <a:t>Upload arbitrary sensor log CSV files from physical devices or bench test rigs.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Automated Preprocessing: </a:t>
            </a:r>
            <a:r>
              <a:rPr sz="1100">
                <a:solidFill>
                  <a:srgbClr val="64748B"/>
                </a:solidFill>
                <a:latin typeface="Segoe UI"/>
              </a:rPr>
              <a:t>Applies scaling, rolling stats, and sequence windowing on the fly.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Segoe UI"/>
              </a:rPr>
              <a:t>Instant Inference: </a:t>
            </a:r>
            <a:r>
              <a:rPr sz="1100">
                <a:solidFill>
                  <a:srgbClr val="64748B"/>
                </a:solidFill>
                <a:latin typeface="Segoe UI"/>
              </a:rPr>
              <a:t>Outputs immediate health diagnosis without manual code interaction.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CONTAINERIZED CLOUD / ON-PREM ARCHITECTURE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Container: Docker (Python 3.9 Debian)  •  Port: 8501 (Tornado / Streamlit WS)  •  Sub-second inference (&lt;15ms per prediction)  •  Mounted Volumes for model checkpoints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ACADEMIC DEFENSE &amp; TECHNICAL RIGOR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Anticipated Viva Questions &amp; Technical Justifications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Addressing core machine learning theory, experimental design,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369A1"/>
                </a:solidFill>
                <a:latin typeface="Segoe UI"/>
              </a:defRPr>
            </a:pPr>
            <a:r>
              <a:t>Q: Why Regression instead of Classification?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Maintenance planning requires knowing the EXACT time window remaining ($RUL$ in cycles). Binary classification ('Healthy' vs 'Broken') gives no lead time to order replacement parts or schedule hangar crews.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369A1"/>
                </a:solidFill>
                <a:latin typeface="Segoe UI"/>
              </a:defRPr>
            </a:pPr>
            <a:r>
              <a:t>Q: Why MAE &amp; RMSE rather than Accuracy?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Accuracy applies only to discrete classification classes. For continuous RUL values, MAE measures average cycle error, while RMSE heavily penalizes large dangerous outlier mispredictions.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369A1"/>
                </a:solidFill>
                <a:latin typeface="Segoe UI"/>
              </a:defRPr>
            </a:pPr>
            <a:r>
              <a:t>Q: How was Data Leakage eliminated?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By strictly fitting the StandardScaler only on the training units. Normalization statistics were never calculated across the combined dataset. Sequences were grouped strictly within unit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369A1"/>
                </a:solidFill>
                <a:latin typeface="Segoe UI"/>
              </a:defRPr>
            </a:pPr>
            <a:r>
              <a:t>Q: Why does LSTM outperform Random Forest?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Turbofan degradation is inherently non-Markovian: engine wear at cycle t depends on historical cumulative stress. LSTM remembers temporal degradation trajectories across sliding time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369A1"/>
                </a:solidFill>
                <a:latin typeface="Segoe UI"/>
              </a:defRPr>
            </a:pPr>
            <a:r>
              <a:t>Q: What are the primary project limitations?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FD001 simulates a single operating regime (Sea Level). Real-world aircraft experience multi-altitude conditions and varying thrust regimes (as simulated in C-MAPSS FD002-FD004 datasets).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8006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369A1"/>
                </a:solidFill>
                <a:latin typeface="Segoe UI"/>
              </a:defRPr>
            </a:pPr>
            <a:r>
              <a:t>Q: How was Overfitting controlled?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Utilized Dropout layers (0.2) in PyTorch, Early Stopping on validation loss, and 3-fold cross-validation with constrained tree depth in ensemble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  <a:latin typeface="Segoe UI"/>
              </a:defRPr>
            </a:pPr>
            <a:r>
              <a:t>PROJECT SUMMARY &amp; DELIVERABLES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1F5F9"/>
                </a:solidFill>
                <a:latin typeface="Segoe UI"/>
              </a:rPr>
              <a:t>Requirement Fulfilled: </a:t>
            </a:r>
            <a:r>
              <a:rPr sz="1100">
                <a:solidFill>
                  <a:srgbClr val="94A3B8"/>
                </a:solidFill>
                <a:latin typeface="Segoe UI"/>
              </a:rPr>
              <a:t>Collected multi-channel sensor telemetry from an industrial device (Turbofan Jet Engine) and engineered an accurate predictive prognostic system.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1F5F9"/>
                </a:solidFill>
                <a:latin typeface="Segoe UI"/>
              </a:rPr>
              <a:t>Benchmarked ML &amp; DL: </a:t>
            </a:r>
            <a:r>
              <a:rPr sz="1100">
                <a:solidFill>
                  <a:srgbClr val="94A3B8"/>
                </a:solidFill>
                <a:latin typeface="Segoe UI"/>
              </a:rPr>
              <a:t>Compared Linear Regression, Random Forest, XGBoost, and PyTorch LSTM. Demonstrated that temporal deep learning cuts prediction error down to 21.6 cycles.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1F5F9"/>
                </a:solidFill>
                <a:latin typeface="Segoe UI"/>
              </a:rPr>
              <a:t>Full-Stack Implementation: </a:t>
            </a:r>
            <a:r>
              <a:rPr sz="1100">
                <a:solidFill>
                  <a:srgbClr val="94A3B8"/>
                </a:solidFill>
                <a:latin typeface="Segoe UI"/>
              </a:rPr>
              <a:t>Delivered a containerized Streamlit digital twin with interactive visualization, dynamic health triage, and ad-hoc CSV ingestion.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1F5F9"/>
                </a:solidFill>
                <a:latin typeface="Segoe UI"/>
              </a:rPr>
              <a:t>Production &amp; Defense Ready: </a:t>
            </a:r>
            <a:r>
              <a:rPr sz="1100">
                <a:solidFill>
                  <a:srgbClr val="94A3B8"/>
                </a:solidFill>
                <a:latin typeface="Segoe UI"/>
              </a:rPr>
              <a:t>Zero-leakage data pipelines, comprehensive unit test suite (pytest), and Dockerized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21208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  <a:latin typeface="Segoe UI"/>
              </a:defRPr>
            </a:pPr>
            <a:r>
              <a:t>FUTURE ROADMAP &amp; EXTENSIONS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1F5F9"/>
                </a:solidFill>
                <a:latin typeface="Segoe UI"/>
              </a:rPr>
              <a:t>Multi-Condition Datasets: </a:t>
            </a:r>
            <a:r>
              <a:rPr sz="1100">
                <a:solidFill>
                  <a:srgbClr val="94A3B8"/>
                </a:solidFill>
                <a:latin typeface="Segoe UI"/>
              </a:rPr>
              <a:t>Extend architecture to NASA FD002 &amp; FD004 (6 flight regimes and 2 fault modes) utilizing regime-aware normalization.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1F5F9"/>
                </a:solidFill>
                <a:latin typeface="Segoe UI"/>
              </a:rPr>
              <a:t>Temporal Attention / Transformers: </a:t>
            </a:r>
            <a:r>
              <a:rPr sz="1100">
                <a:solidFill>
                  <a:srgbClr val="94A3B8"/>
                </a:solidFill>
                <a:latin typeface="Segoe UI"/>
              </a:rPr>
              <a:t>Implement Transformer encoder layers to capture long-range sensor attention and model cross-sensor coupling.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1F5F9"/>
                </a:solidFill>
                <a:latin typeface="Segoe UI"/>
              </a:rPr>
              <a:t>Edge Deployment (TinyML): </a:t>
            </a:r>
            <a:r>
              <a:rPr sz="1100">
                <a:solidFill>
                  <a:srgbClr val="94A3B8"/>
                </a:solidFill>
                <a:latin typeface="Segoe UI"/>
              </a:rPr>
              <a:t>Quantize PyTorch weights to INT8 for deployment on resource-constrained embedded aviation edge computers.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1F5F9"/>
                </a:solidFill>
                <a:latin typeface="Segoe UI"/>
              </a:rPr>
              <a:t>Bayesian Uncertainty Estimation: </a:t>
            </a:r>
            <a:r>
              <a:rPr sz="1100">
                <a:solidFill>
                  <a:srgbClr val="94A3B8"/>
                </a:solidFill>
                <a:latin typeface="Segoe UI"/>
              </a:rPr>
              <a:t>Output prediction confidence intervals (e.g. 95% RUL bounds) rather than single scalar predictions.</a:t>
            </a:r>
          </a:p>
          <a:p>
            <a:pPr algn="ctr">
              <a:spcBef>
                <a:spcPts val="2400"/>
              </a:spcBef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